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eiryo"/>
                <a:ea typeface="Meiryo"/>
              </a:rPr>
              <a:t>札幌市　ベンチマークホテル 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eiryo"/>
                <a:ea typeface="Meiryo"/>
              </a:rPr>
              <a:t>対象マーケットにおけるベンチマークホテルの分布と概要（26施設）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作成日: 2026-07-14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地図: © OpenStreetMap contributors ／ 位置情報: 国土地理院ジオコーディングAPI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eiryo"/>
                <a:ea typeface="Meiryo"/>
              </a:rPr>
              <a:t>札幌市｜ベンチマークホテル分布マップ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2179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eiryo"/>
                <a:ea typeface="Meiryo"/>
              </a:rPr>
              <a:t>ピンの番号は右表のNo.に対応（ピン・表はPowerPoint上で編集可能）</a:t>
            </a:r>
          </a:p>
        </p:txBody>
      </p:sp>
      <p:pic>
        <p:nvPicPr>
          <p:cNvPr id="4" name="Picture 3" descr="20260714_ベンチマークホテルマッピング_札幌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313138" cy="566928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567905" y="2495437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171747" y="2318133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2484022" y="3393028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4749683" y="2235316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5011996" y="4101047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4014450" y="2045225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3826446" y="240780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7</a:t>
            </a:r>
          </a:p>
        </p:txBody>
      </p:sp>
      <p:sp>
        <p:nvSpPr>
          <p:cNvPr id="12" name="Oval 11"/>
          <p:cNvSpPr/>
          <p:nvPr/>
        </p:nvSpPr>
        <p:spPr>
          <a:xfrm>
            <a:off x="4285019" y="2777412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8</a:t>
            </a:r>
          </a:p>
        </p:txBody>
      </p:sp>
      <p:sp>
        <p:nvSpPr>
          <p:cNvPr id="13" name="Oval 12"/>
          <p:cNvSpPr/>
          <p:nvPr/>
        </p:nvSpPr>
        <p:spPr>
          <a:xfrm>
            <a:off x="4629897" y="433352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9</a:t>
            </a:r>
          </a:p>
        </p:txBody>
      </p:sp>
      <p:sp>
        <p:nvSpPr>
          <p:cNvPr id="14" name="Oval 13"/>
          <p:cNvSpPr/>
          <p:nvPr/>
        </p:nvSpPr>
        <p:spPr>
          <a:xfrm>
            <a:off x="3374234" y="227422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10</a:t>
            </a:r>
          </a:p>
        </p:txBody>
      </p:sp>
      <p:sp>
        <p:nvSpPr>
          <p:cNvPr id="15" name="Oval 14"/>
          <p:cNvSpPr/>
          <p:nvPr/>
        </p:nvSpPr>
        <p:spPr>
          <a:xfrm>
            <a:off x="3888437" y="3932845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11</a:t>
            </a:r>
          </a:p>
        </p:txBody>
      </p:sp>
      <p:sp>
        <p:nvSpPr>
          <p:cNvPr id="16" name="Oval 15"/>
          <p:cNvSpPr/>
          <p:nvPr/>
        </p:nvSpPr>
        <p:spPr>
          <a:xfrm>
            <a:off x="3683920" y="1607038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12</a:t>
            </a:r>
          </a:p>
        </p:txBody>
      </p:sp>
      <p:sp>
        <p:nvSpPr>
          <p:cNvPr id="17" name="Oval 16"/>
          <p:cNvSpPr/>
          <p:nvPr/>
        </p:nvSpPr>
        <p:spPr>
          <a:xfrm>
            <a:off x="3374234" y="227422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13</a:t>
            </a:r>
          </a:p>
        </p:txBody>
      </p:sp>
      <p:sp>
        <p:nvSpPr>
          <p:cNvPr id="18" name="Oval 17"/>
          <p:cNvSpPr/>
          <p:nvPr/>
        </p:nvSpPr>
        <p:spPr>
          <a:xfrm>
            <a:off x="4361358" y="4067147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14</a:t>
            </a:r>
          </a:p>
        </p:txBody>
      </p:sp>
      <p:sp>
        <p:nvSpPr>
          <p:cNvPr id="19" name="Oval 18"/>
          <p:cNvSpPr/>
          <p:nvPr/>
        </p:nvSpPr>
        <p:spPr>
          <a:xfrm>
            <a:off x="4648440" y="4450779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15</a:t>
            </a:r>
          </a:p>
        </p:txBody>
      </p:sp>
      <p:sp>
        <p:nvSpPr>
          <p:cNvPr id="20" name="Oval 19"/>
          <p:cNvSpPr/>
          <p:nvPr/>
        </p:nvSpPr>
        <p:spPr>
          <a:xfrm>
            <a:off x="4638153" y="346657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16</a:t>
            </a:r>
          </a:p>
        </p:txBody>
      </p:sp>
      <p:sp>
        <p:nvSpPr>
          <p:cNvPr id="21" name="Oval 20"/>
          <p:cNvSpPr/>
          <p:nvPr/>
        </p:nvSpPr>
        <p:spPr>
          <a:xfrm>
            <a:off x="3801676" y="4608415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17</a:t>
            </a:r>
          </a:p>
        </p:txBody>
      </p:sp>
      <p:sp>
        <p:nvSpPr>
          <p:cNvPr id="22" name="Oval 21"/>
          <p:cNvSpPr/>
          <p:nvPr/>
        </p:nvSpPr>
        <p:spPr>
          <a:xfrm>
            <a:off x="4330362" y="1431759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18</a:t>
            </a:r>
          </a:p>
        </p:txBody>
      </p:sp>
      <p:sp>
        <p:nvSpPr>
          <p:cNvPr id="23" name="Oval 22"/>
          <p:cNvSpPr/>
          <p:nvPr/>
        </p:nvSpPr>
        <p:spPr>
          <a:xfrm>
            <a:off x="4206515" y="441910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19</a:t>
            </a:r>
          </a:p>
        </p:txBody>
      </p:sp>
      <p:sp>
        <p:nvSpPr>
          <p:cNvPr id="24" name="Oval 23"/>
          <p:cNvSpPr/>
          <p:nvPr/>
        </p:nvSpPr>
        <p:spPr>
          <a:xfrm>
            <a:off x="4842670" y="5792000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20</a:t>
            </a:r>
          </a:p>
        </p:txBody>
      </p:sp>
      <p:sp>
        <p:nvSpPr>
          <p:cNvPr id="25" name="Oval 24"/>
          <p:cNvSpPr/>
          <p:nvPr/>
        </p:nvSpPr>
        <p:spPr>
          <a:xfrm>
            <a:off x="3648863" y="4964615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21</a:t>
            </a:r>
          </a:p>
        </p:txBody>
      </p:sp>
      <p:sp>
        <p:nvSpPr>
          <p:cNvPr id="26" name="Oval 25"/>
          <p:cNvSpPr/>
          <p:nvPr/>
        </p:nvSpPr>
        <p:spPr>
          <a:xfrm>
            <a:off x="4076441" y="2587329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22</a:t>
            </a:r>
          </a:p>
        </p:txBody>
      </p:sp>
      <p:sp>
        <p:nvSpPr>
          <p:cNvPr id="27" name="Oval 26"/>
          <p:cNvSpPr/>
          <p:nvPr/>
        </p:nvSpPr>
        <p:spPr>
          <a:xfrm>
            <a:off x="3743881" y="3100508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23</a:t>
            </a:r>
          </a:p>
        </p:txBody>
      </p:sp>
      <p:sp>
        <p:nvSpPr>
          <p:cNvPr id="28" name="Oval 27"/>
          <p:cNvSpPr/>
          <p:nvPr/>
        </p:nvSpPr>
        <p:spPr>
          <a:xfrm>
            <a:off x="3743881" y="3100508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24</a:t>
            </a:r>
          </a:p>
        </p:txBody>
      </p:sp>
      <p:sp>
        <p:nvSpPr>
          <p:cNvPr id="29" name="Oval 28"/>
          <p:cNvSpPr/>
          <p:nvPr/>
        </p:nvSpPr>
        <p:spPr>
          <a:xfrm>
            <a:off x="4109467" y="3891906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25</a:t>
            </a:r>
          </a:p>
        </p:txBody>
      </p:sp>
      <p:sp>
        <p:nvSpPr>
          <p:cNvPr id="30" name="Oval 29"/>
          <p:cNvSpPr/>
          <p:nvPr/>
        </p:nvSpPr>
        <p:spPr>
          <a:xfrm>
            <a:off x="4049506" y="3573834"/>
            <a:ext cx="274320" cy="274320"/>
          </a:xfrm>
          <a:prstGeom prst="ellipse">
            <a:avLst/>
          </a:prstGeom>
          <a:solidFill>
            <a:srgbClr val="2563E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Meiryo"/>
                <a:ea typeface="Meiryo"/>
              </a:rPr>
              <a:t>26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770338" y="914400"/>
          <a:ext cx="4238476" cy="691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35356"/>
                <a:gridCol w="777240"/>
                <a:gridCol w="86868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ホテル名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客室数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開業年</a:t>
                      </a:r>
                    </a:p>
                  </a:txBody>
                  <a:tcPr marL="36576" marR="36576" marT="9144" marB="9144" anchor="ctr">
                    <a:solidFill>
                      <a:srgbClr val="1F29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ANAクラウンプラザホテル札幌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412室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1974年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京王プラザホテル札幌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483室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1982年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グランドメルキュール札幌大通公園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294室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1992年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ホテルモントレ札幌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250室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1994年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フェアフィールド・バイ・マリオット札幌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254室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1995年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JRタワーホテル日航札幌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342室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2003年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ホテルグレイスリー札幌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440室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2006年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クロスホテル札幌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181室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2007年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メルキュールホテル札幌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285室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2009年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三井ガーデンホテル札幌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177室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2010年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11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ラ・ジェント・ステイ札幌大通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219室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2016年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12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京王プレリアホテル 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337室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2019年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13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三井ガーデンホテル札幌ウエスト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169室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2020年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14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THE KNOT SAPPORO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140室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2020年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すすきのグランベルホテル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300室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2021年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16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ザ ロイヤルパーク キャンバス 札幌大通公園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134室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2021年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17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OMO3札幌すすきの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226室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2022年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18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ホテルエミオン札幌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295室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2023年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19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SAPPORO STREAM HOTEL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436室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2024年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コートヤード・バイ・マリオット札幌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321室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2024年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21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FAV LUX 札幌すすきの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84室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2025年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22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ザ・ゲートホテル札幌 by HULIC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172室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2025年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23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ハイアット セントリック札幌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216室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2026年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24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ハイアットセントリック札幌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216室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2026年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25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TRUNK HOTEL SAPPORO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262室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2027年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26</a:t>
                      </a:r>
                    </a:p>
                  </a:txBody>
                  <a:tcPr marL="36576" marR="36576" marT="9144" marB="9144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パーク ハイアット 札幌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157室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2029年</a:t>
                      </a:r>
                    </a:p>
                  </a:txBody>
                  <a:tcPr marL="36576" marR="36576" marT="9144" marB="9144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182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Meiryo"/>
                <a:ea typeface="Meiryo"/>
              </a:rPr>
              <a:t>札幌市｜ベンチマークホテル一覧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68680"/>
          <a:ext cx="11704320" cy="790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1280160"/>
                <a:gridCol w="731520"/>
                <a:gridCol w="822960"/>
                <a:gridCol w="1828800"/>
                <a:gridCol w="38404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No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施設名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カテゴリー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部屋数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開業年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プライス・インデックス(円)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住所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ANAクラウンプラザホテル札幌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1974年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20,001 - 25,000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〒060-0003 北海道札幌市中央区北3条西1丁目2-9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京王プラザホテル札幌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483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1982年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30,001 - 35,000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〒060-0005 北海道札幌市中央区北5条西7丁目2-1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グランドメルキュール札幌大通公園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リゾートホテル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1992年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25,001 - 30,000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〒060-0001 北海道札幌市中央区北1条西11丁目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ホテルモントレ札幌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1994年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15,001 - 20,000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〒060-0034 北海道札幌市中央区北4条東1丁目3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フェアフィールド・バイ・マリオット札幌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1995年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30,001 - 35,000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北海道札幌市中央区南四条東一丁目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JRタワーホテル日航札幌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342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2003年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40,001 - 45,000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〒060-0005 北海道札幌市中央区北5条西2丁目5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ホテルグレイスリー札幌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2006年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25,001 - 30,000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北海道札幌市中央区北四条西四丁目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クロスホテル札幌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181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2007年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20,001 - 25,000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〒060-0002 北海道札幌市中央区北2条西2丁目23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メルキュールホテル札幌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2009年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35,001 - 40,000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〒064-0804 北海道札幌市中央区南4条西2丁目2-4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三井ガーデンホテル札幌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177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2010年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20,001 - 25,000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〒060-0005 北海道札幌市中央区北5条西6丁目18-3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ラ・ジェント・ステイ札幌大通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2016年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35,001 - 40,000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北海道札幌市中央区南二条西五丁目２６番地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京王プレリアホテル 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337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2019年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25,001 - 30,000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〒060-0808 北海道札幌市北区北8条西4丁目11-1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三井ガーデンホテル札幌ウエスト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2020年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35,001 - 40,000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〒060-0005 北海道札幌市中央区北五条西6丁目2-4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THE KNOT SAPPORO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140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2020年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25,001 - 30,000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〒060-0063 北海道札幌市中央区南三条西3丁目16-2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すすきのグランベルホテル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2021年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20,001 - 25,000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〒064-0805 北海道札幌市中央区南5条西2丁目6-2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ザ ロイヤルパーク キャンバス 札幌大通公園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134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2021年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20,001 - 25,000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〒060-0042 北海道札幌市中央区大通西1丁目12-2,13-1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OMO3札幌すすきの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2022年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10,001 - 12,500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〒064-0805 北海道札幌市中央区南5条西6丁目14-1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ホテルエミオン札幌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295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2023年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15,001 - 20,000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〒060-0808 北海道札幌市北区北8条西1-4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SAPPORO STREAM HOTEL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2024年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40,001 - 45,000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〒064-0804 北海道札幌市中央区南4条西4丁目1-1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コートヤード・バイ・マリオット札幌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321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2024年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30,001 - 35,000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〒064-0810 北海道札幌市中央区南10条西1丁目1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FAV LUX 札幌すすきの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ビジネスホテル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2025年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35,001 - 40,000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〒064-0806 北海道札幌市中央区南6条西7丁目4-3 第82松井ビル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ザ・ゲートホテル札幌 by HULIC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シティホテル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172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2025年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25,001 - 30,000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〒060-0003 北海道札幌市中央区北3条西3丁目3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ハイアット セントリック札幌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2026年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北海道札幌市中央区北一条西5丁目1番4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ハイアットセントリック札幌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216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2026年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北海道札幌市中央区北一条西 5 丁目 1 番 4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TRUNK HOTEL SAPPORO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2027年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北海道札幌市中央区南2条西4丁目11-4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26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パーク ハイアット 札幌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157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2029年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Meiryo"/>
                          <a:ea typeface="Meiryo"/>
                        </a:rPr>
                        <a:t>北海道札幌市中央区大通西4丁目1番1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8600" y="6446520"/>
            <a:ext cx="1170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Meiryo"/>
                <a:ea typeface="Meiryo"/>
              </a:rPr>
              <a:t>出典: 各施設公表情報等 ／ プライス・インデックスは調査時点の参考価格帯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
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1F2937"/>
                </a:solidFill>
                <a:latin typeface="Meiryo"/>
                <a:ea typeface="Meiryo"/>
              </a:rPr>
              <a:t>那覇市　ベンチマークホテル マップ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Meiryo"/>
                <a:ea typeface="Meiryo"/>
              </a:rPr>
              <a:t>対象マーケットにおけるベンチマークホテルの分布と概要（18施設）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作成日: 2026-07-06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地図: © OpenStreetMap contributors ／ 位置情報: 国土地理院ジオコーディングAPI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eiryo"/>
                <a:ea typeface="Meiryo"/>
              </a:rPr>
              <a:t>那覇市｜ベンチマークホテル分布マップ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217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eiryo"/>
                <a:ea typeface="Meiryo"/>
              </a:rPr>
              <a:t>ピンの番号は右表のNo.に対応（ピン・表はPowerPoint上で編集可能）</a:t>
            </a:r>
          </a:p>
        </p:txBody>
      </p:sp>
      <p:pic>
        <p:nvPicPr>
          <p:cNvPr id="4" name="Picture 3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7314033" cy="566928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331851" y="3655307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3816965" y="3592277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6561102" y="3773614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4682449" y="3785916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5442923" y="3636095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5774937" y="3782040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6254779" y="4563649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12" name="Oval 11"/>
          <p:cNvSpPr/>
          <p:nvPr/>
        </p:nvSpPr>
        <p:spPr>
          <a:xfrm>
            <a:off x="3930538" y="3836643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13" name="Oval 12"/>
          <p:cNvSpPr/>
          <p:nvPr/>
        </p:nvSpPr>
        <p:spPr>
          <a:xfrm>
            <a:off x="5192333" y="3726763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9</a:t>
            </a:r>
          </a:p>
        </p:txBody>
      </p:sp>
      <p:sp>
        <p:nvSpPr>
          <p:cNvPr id="14" name="Oval 13"/>
          <p:cNvSpPr/>
          <p:nvPr/>
        </p:nvSpPr>
        <p:spPr>
          <a:xfrm>
            <a:off x="4528164" y="2660110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15" name="Oval 14"/>
          <p:cNvSpPr/>
          <p:nvPr/>
        </p:nvSpPr>
        <p:spPr>
          <a:xfrm>
            <a:off x="2784562" y="3385995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11</a:t>
            </a:r>
          </a:p>
        </p:txBody>
      </p:sp>
      <p:sp>
        <p:nvSpPr>
          <p:cNvPr id="16" name="Oval 15"/>
          <p:cNvSpPr/>
          <p:nvPr/>
        </p:nvSpPr>
        <p:spPr>
          <a:xfrm>
            <a:off x="2510387" y="3765861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17" name="Oval 16"/>
          <p:cNvSpPr/>
          <p:nvPr/>
        </p:nvSpPr>
        <p:spPr>
          <a:xfrm>
            <a:off x="3844902" y="2952019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13</a:t>
            </a:r>
          </a:p>
        </p:txBody>
      </p:sp>
      <p:sp>
        <p:nvSpPr>
          <p:cNvPr id="18" name="Oval 17"/>
          <p:cNvSpPr/>
          <p:nvPr/>
        </p:nvSpPr>
        <p:spPr>
          <a:xfrm>
            <a:off x="3300764" y="3653453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14</a:t>
            </a:r>
          </a:p>
        </p:txBody>
      </p:sp>
      <p:sp>
        <p:nvSpPr>
          <p:cNvPr id="19" name="Oval 18"/>
          <p:cNvSpPr/>
          <p:nvPr/>
        </p:nvSpPr>
        <p:spPr>
          <a:xfrm>
            <a:off x="2940953" y="3636095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15</a:t>
            </a:r>
          </a:p>
        </p:txBody>
      </p:sp>
      <p:sp>
        <p:nvSpPr>
          <p:cNvPr id="20" name="Oval 19"/>
          <p:cNvSpPr/>
          <p:nvPr/>
        </p:nvSpPr>
        <p:spPr>
          <a:xfrm>
            <a:off x="5123684" y="3610310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16</a:t>
            </a:r>
          </a:p>
        </p:txBody>
      </p:sp>
      <p:sp>
        <p:nvSpPr>
          <p:cNvPr id="21" name="Oval 20"/>
          <p:cNvSpPr/>
          <p:nvPr/>
        </p:nvSpPr>
        <p:spPr>
          <a:xfrm>
            <a:off x="3446485" y="3602557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17</a:t>
            </a:r>
          </a:p>
        </p:txBody>
      </p:sp>
      <p:sp>
        <p:nvSpPr>
          <p:cNvPr id="22" name="Oval 21"/>
          <p:cNvSpPr/>
          <p:nvPr/>
        </p:nvSpPr>
        <p:spPr>
          <a:xfrm>
            <a:off x="935811" y="3922760"/>
            <a:ext cx="274320" cy="27432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</a:rPr>
              <a:t>18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771233" y="914400"/>
          <a:ext cx="4237581" cy="4864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34461"/>
                <a:gridCol w="777240"/>
                <a:gridCol w="86868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No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ホテル名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客室数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開業年</a:t>
                      </a:r>
                    </a:p>
                  </a:txBody>
                  <a:tcPr marL="36576" marR="36576" marT="9144" marB="9144" anchor="ctr">
                    <a:solidFill>
                      <a:srgbClr val="1F293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オリエンタルホテル福岡 博多ステーション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227室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1985年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福岡オリエンタルホテル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108室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1990年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JR九州ホテルブラッサム福岡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90室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1992年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グランドハイアット福岡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372室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1996年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 ロイヤルパークホテル 福岡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174室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2011年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JR九州ホテル ブラッサム博多中央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247室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2013年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東急ステイ博多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216室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2018年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東急ステイ福岡天神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252室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2019年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 ブラッサム博多プレミア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238室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2019年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ホテルオリエンタルエクスプレス福岡中洲川端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183室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11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ホテルオリエンタルエクスプレス福岡天神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263室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12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ザ・リッツ・カールトン福岡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167室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13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 ロイヤルパーク キャンバス 福岡中洲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255室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14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ONE FUKUOKA HOTEL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41室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2025年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ザ・ゲートホテル福岡 by HULIC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171室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2025年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16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バウンシー・バイ・リーガ　福岡博多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117室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2026年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17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エースホテル福岡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192室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2027年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18</a:t>
                      </a:r>
                    </a:p>
                  </a:txBody>
                  <a:tcPr marL="36576" marR="36576" marT="9144" marB="9144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(仮称) 福岡家裁跡インターコンチネンタルホテルズ＆リゾーツ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117室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2030年</a:t>
                      </a:r>
                    </a:p>
                  </a:txBody>
                  <a:tcPr marL="36576" marR="36576" marT="9144" marB="9144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82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Meiryo"/>
                <a:ea typeface="Meiryo"/>
              </a:rPr>
              <a:t>那覇市｜ベンチマークホテル一覧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868680"/>
          <a:ext cx="10789920" cy="5559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383280"/>
                <a:gridCol w="1280160"/>
                <a:gridCol w="731520"/>
                <a:gridCol w="822960"/>
                <a:gridCol w="411480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No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施設名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カテゴリー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部屋数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開業年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住所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オリエンタルホテル福岡 博多ステーション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1985年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〒812-0012 福岡県福岡市博多区博多駅中央街4-23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福岡オリエンタルホテル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1990年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〒810-0002 福岡県福岡市中央区西中洲12-17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JR九州ホテルブラッサム福岡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1992年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〒812-0013 福岡県福岡市博多区博多駅東2丁目2-4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グランドハイアット福岡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372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1996年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〒812-0018 福岡県福岡市博多区住吉1丁目2-82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 ロイヤルパークホテル 福岡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2011年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〒812-0011 福岡県福岡市博多区博多駅前2丁目14-15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JR九州ホテル ブラッサム博多中央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247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2013年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〒812-0011 福岡県福岡市博多区博多駅前2丁目2-11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東急ステイ博多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2018年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福岡県福岡市博多区博多駅南一丁目１１番１１号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東急ステイ福岡天神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2019年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〒810-0003 福岡県福岡市中央区春吉3丁目21-24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 ブラッサム博多プレミア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2019年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〒812-0011 福岡県福岡市博多区博多駅前2丁目8-12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ホテルオリエンタルエクスプレス福岡中洲川端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183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〒812-0025 福岡県福岡市博多区店屋町6-26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ホテルオリエンタルエクスプレス福岡天神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2021年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〒810-0001 福岡県福岡市中央区天神3丁目3-14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ザ・リッツ・カールトン福岡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167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〒810-0041 福岡県福岡市中央区大名2丁目6-50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 ロイヤルパーク キャンバス 福岡中洲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ビジネスホテル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2023年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〒810-0801 福岡県福岡市博多区中洲5丁目6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ONE FUKUOKA HOTEL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41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2025年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〒810-0001 福岡県福岡市中央区天神1丁目11-1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ザ・ゲートホテル福岡 by HULIC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2025年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〒810-0001 福岡県福岡市中央区天神2丁目8-49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バウンシー・バイ・リーガ　福岡博多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117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2026年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福岡県福岡市博多区祇園町5-1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エースホテル福岡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2027年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福岡県福岡市中央区天神1丁目326番1他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(仮称) 福岡家裁跡インターコンチネンタルホテルズ＆リゾーツ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シティホテル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117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2030年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Meiryo"/>
                          <a:ea typeface="Meiryo"/>
                        </a:rPr>
                        <a:t>福岡県福岡市中央区大手門1丁目7-1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28600" y="6446520"/>
            <a:ext cx="1170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Meiryo"/>
                <a:ea typeface="Meiryo"/>
              </a:rPr>
              <a:t>出典: 各施設公表情報等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
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1F2937"/>
                </a:solidFill>
                <a:latin typeface="Meiryo"/>
                <a:ea typeface="Meiryo"/>
              </a:rPr>
              <a:t>軽井沢町　ベンチマークホテル マップ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6B7280"/>
                </a:solidFill>
                <a:latin typeface="Meiryo"/>
                <a:ea typeface="Meiryo"/>
              </a:rPr>
              <a:t>対象マーケットにおけるベンチマークホテルの分布と概要（13施設）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Meiryo"/>
                <a:ea typeface="Meiryo"/>
              </a:rPr>
              <a:t>作成日: 2026-07-07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Meiryo"/>
                <a:ea typeface="Meiryo"/>
              </a:rPr>
              <a:t>地図: © OpenStreetMap contributors ／ 位置情報: 国土地理院ジオコーディングAPI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" y="1828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2937"/>
                </a:solidFill>
                <a:latin typeface="Meiryo"/>
                <a:ea typeface="Meiryo"/>
              </a:rPr>
              <a:t>軽井沢町｜ベンチマークホテル分布マップ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" y="62179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Meiryo"/>
                <a:ea typeface="Meiryo"/>
              </a:rPr>
              <a:t>ピンの番号は右表のNo.に対応（ピン・表はPowerPoint上で編集可能）</a:t>
            </a:r>
          </a:p>
        </p:txBody>
      </p:sp>
      <p:pic>
        <p:nvPicPr>
          <p:cNvPr id="4" name="Picture 3" descr="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14400"/>
            <a:ext cx="7311722" cy="566928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559808" y="2553246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6" name="Oval 5"/>
          <p:cNvSpPr/>
          <p:nvPr/>
        </p:nvSpPr>
        <p:spPr>
          <a:xfrm>
            <a:off x="5853444" y="3381854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Oval 6"/>
          <p:cNvSpPr/>
          <p:nvPr/>
        </p:nvSpPr>
        <p:spPr>
          <a:xfrm>
            <a:off x="6335460" y="4058688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Oval 7"/>
          <p:cNvSpPr/>
          <p:nvPr/>
        </p:nvSpPr>
        <p:spPr>
          <a:xfrm>
            <a:off x="5572686" y="2203050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9" name="Oval 8"/>
          <p:cNvSpPr/>
          <p:nvPr/>
        </p:nvSpPr>
        <p:spPr>
          <a:xfrm>
            <a:off x="3978686" y="3248582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5</a:t>
            </a:r>
          </a:p>
        </p:txBody>
      </p:sp>
      <p:sp>
        <p:nvSpPr>
          <p:cNvPr id="10" name="Oval 9"/>
          <p:cNvSpPr/>
          <p:nvPr/>
        </p:nvSpPr>
        <p:spPr>
          <a:xfrm>
            <a:off x="2200826" y="3792647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11" name="Oval 10"/>
          <p:cNvSpPr/>
          <p:nvPr/>
        </p:nvSpPr>
        <p:spPr>
          <a:xfrm>
            <a:off x="6071659" y="2747825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7</a:t>
            </a:r>
          </a:p>
        </p:txBody>
      </p:sp>
      <p:sp>
        <p:nvSpPr>
          <p:cNvPr id="12" name="Oval 11"/>
          <p:cNvSpPr/>
          <p:nvPr/>
        </p:nvSpPr>
        <p:spPr>
          <a:xfrm>
            <a:off x="5533897" y="5020709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8</a:t>
            </a:r>
          </a:p>
        </p:txBody>
      </p:sp>
      <p:sp>
        <p:nvSpPr>
          <p:cNvPr id="13" name="Oval 12"/>
          <p:cNvSpPr/>
          <p:nvPr/>
        </p:nvSpPr>
        <p:spPr>
          <a:xfrm>
            <a:off x="6348464" y="3299305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9</a:t>
            </a:r>
          </a:p>
        </p:txBody>
      </p:sp>
      <p:sp>
        <p:nvSpPr>
          <p:cNvPr id="14" name="Oval 13"/>
          <p:cNvSpPr/>
          <p:nvPr/>
        </p:nvSpPr>
        <p:spPr>
          <a:xfrm>
            <a:off x="934794" y="3033024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10</a:t>
            </a:r>
          </a:p>
        </p:txBody>
      </p:sp>
      <p:sp>
        <p:nvSpPr>
          <p:cNvPr id="15" name="Oval 14"/>
          <p:cNvSpPr/>
          <p:nvPr/>
        </p:nvSpPr>
        <p:spPr>
          <a:xfrm>
            <a:off x="4540127" y="3371903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11</a:t>
            </a:r>
          </a:p>
        </p:txBody>
      </p:sp>
      <p:sp>
        <p:nvSpPr>
          <p:cNvPr id="16" name="Oval 15"/>
          <p:cNvSpPr/>
          <p:nvPr/>
        </p:nvSpPr>
        <p:spPr>
          <a:xfrm>
            <a:off x="5059861" y="3668424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12</a:t>
            </a:r>
          </a:p>
        </p:txBody>
      </p:sp>
      <p:sp>
        <p:nvSpPr>
          <p:cNvPr id="17" name="Oval 16"/>
          <p:cNvSpPr/>
          <p:nvPr/>
        </p:nvSpPr>
        <p:spPr>
          <a:xfrm>
            <a:off x="5872691" y="2884143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13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7768922" y="914400"/>
          <a:ext cx="4239892" cy="3584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136772"/>
                <a:gridCol w="777240"/>
                <a:gridCol w="86868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No</a:t>
                      </a:r>
                    </a:p>
                  </a:txBody>
                  <a:tcPr marL="36576" marR="36576" marT="9144" marB="9144"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ホテル名</a:t>
                      </a:r>
                    </a:p>
                  </a:txBody>
                  <a:tcPr marL="36576" marR="36576" marT="9144" marB="9144"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客室数</a:t>
                      </a:r>
                    </a:p>
                  </a:txBody>
                  <a:tcPr marL="36576" marR="36576" marT="9144" marB="9144"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開業年</a:t>
                      </a:r>
                    </a:p>
                  </a:txBody>
                  <a:tcPr marL="36576" marR="36576" marT="9144" marB="9144" anchor="ctr">
                    <a:solidFill>
                      <a:srgbClr val="1F293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万平ホテル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109室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1894年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軽井沢プリンスホテル ウエスト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395室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1973年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ザ・プリンス 軽井沢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100室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1982年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星のや軽井沢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77室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2005年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5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軽井沢マリオットホテル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142室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2016年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レジーナリゾート軽井沢御影用水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26室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2017年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旧軽井沢KIKYOキュリオ・コレクションbyヒルトン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50室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2018年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ルグラン軽井沢ホテル＆リゾート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58室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2018年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9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軽井沢プリンスホテル イースト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159室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2020年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10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THE HIRAMATSU 軽井沢御代田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37室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2021年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11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ホテルインディゴ軽井沢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155室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2022年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12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ふふ 軽井沢ー陽光の風ー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24室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2023年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13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ふふ 旧軽井沢ー静養の森ー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2023年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" y="182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2937"/>
                </a:solidFill>
                <a:latin typeface="Meiryo"/>
                <a:ea typeface="Meiryo"/>
              </a:rPr>
              <a:t>軽井沢町｜ベンチマークホテル一覧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28600" y="868680"/>
          <a:ext cx="1170432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743200"/>
                <a:gridCol w="1280160"/>
                <a:gridCol w="731520"/>
                <a:gridCol w="822960"/>
                <a:gridCol w="1828800"/>
                <a:gridCol w="38404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No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施設名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カテゴリー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部屋数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開業年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プライス・インデックス(円)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住所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万平ホテル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リゾートホテル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1894年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50,001 - 55,000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〒389-0102 長野県北佐久郡軽井沢町軽井沢925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軽井沢プリンスホテル ウエスト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リゾートホテル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395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1973年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110,001 - 115,000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長野県軽井沢町軽井沢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ザ・プリンス 軽井沢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リゾートホテル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1982年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35,001 - 40,000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〒389-0193 長野県北佐久郡軽井沢町軽井沢1049-1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星のや軽井沢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リゾートホテル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77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2005年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175,001 - 180,000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長野県北佐久郡軽井沢町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軽井沢マリオットホテル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リゾートホテル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2016年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85,001 - 90,000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〒389-0111 長野県北佐久郡軽井沢町長倉4339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レジーナリゾート軽井沢御影用水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リゾートホテル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26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2017年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50,001 - 55,000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〒389-0115 長野県北佐久郡軽井沢町追分49-2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旧軽井沢KIKYOキュリオ・コレクションbyヒルトン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リゾートホテル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2018年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110,001 - 115,000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〒389-0102 長野県北佐久郡軽井沢町軽井沢491-5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ルグラン軽井沢ホテル＆リゾート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リゾートホテル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58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2018年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85,001 - 90,000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長野県軽井沢町発地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軽井沢プリンスホテル イースト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リゾートホテル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159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2020年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40,001 - 45,000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〒389-0193 長野県北佐久郡軽井沢町軽井沢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THE HIRAMATSU 軽井沢御代田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オーベルジュ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37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2021年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175,001 - 180,000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〒389-0201 長野県北佐久郡御代田町大字塩野375-723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ホテルインディゴ軽井沢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リゾートホテル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2022年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45,001 - 50,000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〒389-0111 長野県北佐久郡軽井沢町大字長倉字屋敷添18番地39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12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ふふ 軽井沢ー陽光の風ー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旅館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24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2023年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155,001 - 160,000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〒389-0111長野県北佐久郡軽井沢町大字長倉568-1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ふふ 旧軽井沢ー静養の森ー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旅館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2023年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105,001 - 110,000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〒389-0102長野県北佐久郡軽井沢町軽井沢1299-2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28600" y="6446520"/>
            <a:ext cx="1170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Meiryo"/>
                <a:ea typeface="Meiryo"/>
              </a:rPr>
              <a:t>出典: 各施設公表情報等 ／ プライス・インデックスは調査時点の参考価格帯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
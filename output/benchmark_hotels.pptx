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1F2937"/>
                </a:solidFill>
                <a:latin typeface="Meiryo"/>
                <a:ea typeface="Meiryo"/>
              </a:rPr>
              <a:t>那覇市　ベンチマークホテル マップ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6B7280"/>
                </a:solidFill>
                <a:latin typeface="Meiryo"/>
                <a:ea typeface="Meiryo"/>
              </a:rPr>
              <a:t>対象マーケットにおけるベンチマークホテルの分布と概要（11施設）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Meiryo"/>
                <a:ea typeface="Meiryo"/>
              </a:rPr>
              <a:t>作成日: 2026-07-06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Meiryo"/>
                <a:ea typeface="Meiryo"/>
              </a:rPr>
              <a:t>地図: © OpenStreetMap contributors ／ 位置情報: 国土地理院ジオコーディングAPI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1828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2937"/>
                </a:solidFill>
                <a:latin typeface="Meiryo"/>
                <a:ea typeface="Meiryo"/>
              </a:rPr>
              <a:t>那覇市｜ベンチマークホテル分布マップ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6217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Meiryo"/>
                <a:ea typeface="Meiryo"/>
              </a:rPr>
              <a:t>ピンの番号は右表のNo.に対応（ピン・表はPowerPoint上で編集可能）</a:t>
            </a:r>
          </a:p>
        </p:txBody>
      </p:sp>
      <p:pic>
        <p:nvPicPr>
          <p:cNvPr id="4" name="Picture 3" descr="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14400"/>
            <a:ext cx="7313833" cy="566928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3400597" y="2146988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6" name="Oval 5"/>
          <p:cNvSpPr/>
          <p:nvPr/>
        </p:nvSpPr>
        <p:spPr>
          <a:xfrm>
            <a:off x="6561036" y="1935300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Oval 6"/>
          <p:cNvSpPr/>
          <p:nvPr/>
        </p:nvSpPr>
        <p:spPr>
          <a:xfrm>
            <a:off x="2172175" y="5288459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Oval 7"/>
          <p:cNvSpPr/>
          <p:nvPr/>
        </p:nvSpPr>
        <p:spPr>
          <a:xfrm>
            <a:off x="5709362" y="3181187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9" name="Oval 8"/>
          <p:cNvSpPr/>
          <p:nvPr/>
        </p:nvSpPr>
        <p:spPr>
          <a:xfrm>
            <a:off x="4485068" y="3612740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5</a:t>
            </a:r>
          </a:p>
        </p:txBody>
      </p:sp>
      <p:sp>
        <p:nvSpPr>
          <p:cNvPr id="10" name="Oval 9"/>
          <p:cNvSpPr/>
          <p:nvPr/>
        </p:nvSpPr>
        <p:spPr>
          <a:xfrm>
            <a:off x="3358058" y="2474919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11" name="Oval 10"/>
          <p:cNvSpPr/>
          <p:nvPr/>
        </p:nvSpPr>
        <p:spPr>
          <a:xfrm>
            <a:off x="3818267" y="3130168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7</a:t>
            </a:r>
          </a:p>
        </p:txBody>
      </p:sp>
      <p:sp>
        <p:nvSpPr>
          <p:cNvPr id="12" name="Oval 11"/>
          <p:cNvSpPr/>
          <p:nvPr/>
        </p:nvSpPr>
        <p:spPr>
          <a:xfrm>
            <a:off x="2887079" y="4730900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8</a:t>
            </a:r>
          </a:p>
        </p:txBody>
      </p:sp>
      <p:sp>
        <p:nvSpPr>
          <p:cNvPr id="13" name="Oval 12"/>
          <p:cNvSpPr/>
          <p:nvPr/>
        </p:nvSpPr>
        <p:spPr>
          <a:xfrm>
            <a:off x="935676" y="3955056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9</a:t>
            </a:r>
          </a:p>
        </p:txBody>
      </p:sp>
      <p:sp>
        <p:nvSpPr>
          <p:cNvPr id="14" name="Oval 13"/>
          <p:cNvSpPr/>
          <p:nvPr/>
        </p:nvSpPr>
        <p:spPr>
          <a:xfrm>
            <a:off x="2843284" y="2766032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10</a:t>
            </a:r>
          </a:p>
        </p:txBody>
      </p:sp>
      <p:sp>
        <p:nvSpPr>
          <p:cNvPr id="15" name="Oval 14"/>
          <p:cNvSpPr/>
          <p:nvPr/>
        </p:nvSpPr>
        <p:spPr>
          <a:xfrm>
            <a:off x="3815395" y="2236824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11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771033" y="914400"/>
          <a:ext cx="4237781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134661"/>
                <a:gridCol w="777240"/>
                <a:gridCol w="86868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No</a:t>
                      </a:r>
                    </a:p>
                  </a:txBody>
                  <a:tcPr marL="36576" marR="36576" marT="9144" marB="9144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ホテル名</a:t>
                      </a:r>
                    </a:p>
                  </a:txBody>
                  <a:tcPr marL="36576" marR="36576" marT="9144" marB="9144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客室数</a:t>
                      </a:r>
                    </a:p>
                  </a:txBody>
                  <a:tcPr marL="36576" marR="36576" marT="9144" marB="9144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開業年</a:t>
                      </a:r>
                    </a:p>
                  </a:txBody>
                  <a:tcPr marL="36576" marR="36576" marT="9144" marB="9144" anchor="ctr">
                    <a:solidFill>
                      <a:srgbClr val="1F293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ホテルピースアイランド那覇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23室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1988年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コスモスおもろまちステーション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24室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2016年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沖縄国際ユースホステル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38室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1995年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ホテル サン・クイーン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60室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2006年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5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ホテル山の内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63室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1973年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ホテルリゾネックス那覇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84室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2014年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東横INN那覇国際通り美栄橋駅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94室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2002年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ホテルルートイン那覇旭橋駅東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118室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2002年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9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ルートイングランティア那覇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120室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2000年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ロコイン沖縄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128室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2001年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11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スマイルホテル沖縄那覇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128室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2007年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182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2937"/>
                </a:solidFill>
                <a:latin typeface="Meiryo"/>
                <a:ea typeface="Meiryo"/>
              </a:rPr>
              <a:t>那覇市｜ベンチマークホテル一覧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28600" y="868680"/>
          <a:ext cx="11704320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743200"/>
                <a:gridCol w="1280160"/>
                <a:gridCol w="731520"/>
                <a:gridCol w="822960"/>
                <a:gridCol w="1828800"/>
                <a:gridCol w="38404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No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施設名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カテゴリー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部屋数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開業年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プライス・インデックス(円)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住所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ホテルピースアイランド那覇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1988年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7,501 - 10,000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〒900-0016 沖縄県那覇市前島3-23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コスモスおもろまちステーション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ホステル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24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2016年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7,501 - 10,000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〒902-0068 沖縄県那覇市真嘉比1丁目10-1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沖縄国際ユースホステル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ホステル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1995年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7,501 - 10,000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〒900-0026 沖縄県那覇市奥武山町51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ホテル サン・クイーン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60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2006年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7,501 - 10,000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〒902-0067 沖縄県那覇市安里2丁目4-2-1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ホテル山の内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1973年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7,501 - 10,000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〒900-0013 沖縄県那覇市牧志1丁目3-55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ホテルリゾネックス那覇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84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2014年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7,501 - 10,000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〒900-0016 沖縄県那覇市前島3丁目11-1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東横INN那覇国際通り美栄橋駅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2002年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7,501 - 10,000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〒900-0013 沖縄県那覇市牧志1丁目20-1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ホテルルートイン那覇旭橋駅東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118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2002年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7,501 - 10,000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〒900-0021 沖縄県那覇市泉崎1丁目19-12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ルートイングランティア那覇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2000年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7,501 - 10,000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〒900-0036 沖縄県那覇市西2丁目25-12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ロコイン沖縄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128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2001年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7,501 - 10,000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〒900-0032 沖縄県那覇市松山1丁目27-11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スマイルホテル沖縄那覇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2007年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7,501 - 10,000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〒900-0016 沖縄県那覇市前島3丁目24-1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28600" y="6446520"/>
            <a:ext cx="1170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Meiryo"/>
                <a:ea typeface="Meiryo"/>
              </a:rPr>
              <a:t>出典: 各施設公表情報等 ／ プライス・インデックスは調査時点の参考価格帯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